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9"/>
  </p:notesMasterIdLst>
  <p:sldIdLst>
    <p:sldId id="256" r:id="rId2"/>
    <p:sldId id="257" r:id="rId3"/>
    <p:sldId id="258" r:id="rId4"/>
    <p:sldId id="284" r:id="rId5"/>
    <p:sldId id="295" r:id="rId6"/>
    <p:sldId id="279" r:id="rId7"/>
    <p:sldId id="285" r:id="rId8"/>
    <p:sldId id="287" r:id="rId9"/>
    <p:sldId id="290" r:id="rId10"/>
    <p:sldId id="294" r:id="rId11"/>
    <p:sldId id="291" r:id="rId12"/>
    <p:sldId id="296" r:id="rId13"/>
    <p:sldId id="299" r:id="rId14"/>
    <p:sldId id="297" r:id="rId15"/>
    <p:sldId id="298" r:id="rId16"/>
    <p:sldId id="293" r:id="rId17"/>
    <p:sldId id="26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82" autoAdjust="0"/>
    <p:restoredTop sz="94660"/>
  </p:normalViewPr>
  <p:slideViewPr>
    <p:cSldViewPr snapToGrid="0">
      <p:cViewPr varScale="1">
        <p:scale>
          <a:sx n="91" d="100"/>
          <a:sy n="91" d="100"/>
        </p:scale>
        <p:origin x="1410" y="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1365797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59520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80138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61119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938953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445D5DC6-4205-E1CA-23E8-1B2F308C364D}"/>
            </a:ext>
          </a:extLst>
        </p:cNvPr>
        <p:cNvGrpSpPr/>
        <p:nvPr/>
      </p:nvGrpSpPr>
      <p:grpSpPr>
        <a:xfrm>
          <a:off x="0" y="0"/>
          <a:ext cx="0" cy="0"/>
          <a:chOff x="0" y="0"/>
          <a:chExt cx="0" cy="0"/>
        </a:xfrm>
      </p:grpSpPr>
      <p:sp>
        <p:nvSpPr>
          <p:cNvPr id="103" name="Google Shape;103;p3:notes">
            <a:extLst>
              <a:ext uri="{FF2B5EF4-FFF2-40B4-BE49-F238E27FC236}">
                <a16:creationId xmlns:a16="http://schemas.microsoft.com/office/drawing/2014/main" id="{5D957E9C-F472-2E7C-D3BE-C21FF57804F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3:notes">
            <a:extLst>
              <a:ext uri="{FF2B5EF4-FFF2-40B4-BE49-F238E27FC236}">
                <a16:creationId xmlns:a16="http://schemas.microsoft.com/office/drawing/2014/main" id="{BB3AF72A-7DD1-C339-85C5-815CA2D278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5614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93D66C12-4512-E512-AEF6-6E3B4B9E5235}"/>
            </a:ext>
          </a:extLst>
        </p:cNvPr>
        <p:cNvGrpSpPr/>
        <p:nvPr/>
      </p:nvGrpSpPr>
      <p:grpSpPr>
        <a:xfrm>
          <a:off x="0" y="0"/>
          <a:ext cx="0" cy="0"/>
          <a:chOff x="0" y="0"/>
          <a:chExt cx="0" cy="0"/>
        </a:xfrm>
      </p:grpSpPr>
      <p:sp>
        <p:nvSpPr>
          <p:cNvPr id="109" name="Google Shape;109;g3747886215e_1_0:notes">
            <a:extLst>
              <a:ext uri="{FF2B5EF4-FFF2-40B4-BE49-F238E27FC236}">
                <a16:creationId xmlns:a16="http://schemas.microsoft.com/office/drawing/2014/main" id="{56845BCD-7759-CDC7-7434-6BB79B04DE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747886215e_1_0:notes">
            <a:extLst>
              <a:ext uri="{FF2B5EF4-FFF2-40B4-BE49-F238E27FC236}">
                <a16:creationId xmlns:a16="http://schemas.microsoft.com/office/drawing/2014/main" id="{DFD21896-7802-A732-B684-EE40C554AA6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g3747886215e_1_0:notes">
            <a:extLst>
              <a:ext uri="{FF2B5EF4-FFF2-40B4-BE49-F238E27FC236}">
                <a16:creationId xmlns:a16="http://schemas.microsoft.com/office/drawing/2014/main" id="{456B43EC-2905-231C-A29F-F9B83DA7F3A2}"/>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Tree>
    <p:extLst>
      <p:ext uri="{BB962C8B-B14F-4D97-AF65-F5344CB8AC3E}">
        <p14:creationId xmlns:p14="http://schemas.microsoft.com/office/powerpoint/2010/main" val="38295161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747886215e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747886215e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g3747886215e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spTree>
    <p:extLst>
      <p:ext uri="{BB962C8B-B14F-4D97-AF65-F5344CB8AC3E}">
        <p14:creationId xmlns:p14="http://schemas.microsoft.com/office/powerpoint/2010/main" val="2453673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93D66C12-4512-E512-AEF6-6E3B4B9E5235}"/>
            </a:ext>
          </a:extLst>
        </p:cNvPr>
        <p:cNvGrpSpPr/>
        <p:nvPr/>
      </p:nvGrpSpPr>
      <p:grpSpPr>
        <a:xfrm>
          <a:off x="0" y="0"/>
          <a:ext cx="0" cy="0"/>
          <a:chOff x="0" y="0"/>
          <a:chExt cx="0" cy="0"/>
        </a:xfrm>
      </p:grpSpPr>
      <p:sp>
        <p:nvSpPr>
          <p:cNvPr id="109" name="Google Shape;109;g3747886215e_1_0:notes">
            <a:extLst>
              <a:ext uri="{FF2B5EF4-FFF2-40B4-BE49-F238E27FC236}">
                <a16:creationId xmlns:a16="http://schemas.microsoft.com/office/drawing/2014/main" id="{56845BCD-7759-CDC7-7434-6BB79B04DE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747886215e_1_0:notes">
            <a:extLst>
              <a:ext uri="{FF2B5EF4-FFF2-40B4-BE49-F238E27FC236}">
                <a16:creationId xmlns:a16="http://schemas.microsoft.com/office/drawing/2014/main" id="{DFD21896-7802-A732-B684-EE40C554AA6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g3747886215e_1_0:notes">
            <a:extLst>
              <a:ext uri="{FF2B5EF4-FFF2-40B4-BE49-F238E27FC236}">
                <a16:creationId xmlns:a16="http://schemas.microsoft.com/office/drawing/2014/main" id="{456B43EC-2905-231C-A29F-F9B83DA7F3A2}"/>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a:t>
            </a:fld>
            <a:endParaRPr/>
          </a:p>
        </p:txBody>
      </p:sp>
    </p:spTree>
    <p:extLst>
      <p:ext uri="{BB962C8B-B14F-4D97-AF65-F5344CB8AC3E}">
        <p14:creationId xmlns:p14="http://schemas.microsoft.com/office/powerpoint/2010/main" val="2136775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5BFB2615-5C18-432F-170D-A3BFBFA54BE4}"/>
            </a:ext>
          </a:extLst>
        </p:cNvPr>
        <p:cNvGrpSpPr/>
        <p:nvPr/>
      </p:nvGrpSpPr>
      <p:grpSpPr>
        <a:xfrm>
          <a:off x="0" y="0"/>
          <a:ext cx="0" cy="0"/>
          <a:chOff x="0" y="0"/>
          <a:chExt cx="0" cy="0"/>
        </a:xfrm>
      </p:grpSpPr>
      <p:sp>
        <p:nvSpPr>
          <p:cNvPr id="97" name="Google Shape;97;p2:notes">
            <a:extLst>
              <a:ext uri="{FF2B5EF4-FFF2-40B4-BE49-F238E27FC236}">
                <a16:creationId xmlns:a16="http://schemas.microsoft.com/office/drawing/2014/main" id="{35C86943-D62F-F2C7-7B77-B7F650051E3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2:notes">
            <a:extLst>
              <a:ext uri="{FF2B5EF4-FFF2-40B4-BE49-F238E27FC236}">
                <a16:creationId xmlns:a16="http://schemas.microsoft.com/office/drawing/2014/main" id="{3FC43654-9681-D874-128A-94248184662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77947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C307F25B-9065-EA43-44E4-4306A66B8728}"/>
            </a:ext>
          </a:extLst>
        </p:cNvPr>
        <p:cNvGrpSpPr/>
        <p:nvPr/>
      </p:nvGrpSpPr>
      <p:grpSpPr>
        <a:xfrm>
          <a:off x="0" y="0"/>
          <a:ext cx="0" cy="0"/>
          <a:chOff x="0" y="0"/>
          <a:chExt cx="0" cy="0"/>
        </a:xfrm>
      </p:grpSpPr>
      <p:sp>
        <p:nvSpPr>
          <p:cNvPr id="97" name="Google Shape;97;p2:notes">
            <a:extLst>
              <a:ext uri="{FF2B5EF4-FFF2-40B4-BE49-F238E27FC236}">
                <a16:creationId xmlns:a16="http://schemas.microsoft.com/office/drawing/2014/main" id="{791C95D6-66EA-4039-FE2F-B00A5C5CD30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2:notes">
            <a:extLst>
              <a:ext uri="{FF2B5EF4-FFF2-40B4-BE49-F238E27FC236}">
                <a16:creationId xmlns:a16="http://schemas.microsoft.com/office/drawing/2014/main" id="{727E078C-5152-939D-F2A6-23D326995C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976658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877F0A8A-B980-524F-432E-51C91C5A3894}"/>
            </a:ext>
          </a:extLst>
        </p:cNvPr>
        <p:cNvGrpSpPr/>
        <p:nvPr/>
      </p:nvGrpSpPr>
      <p:grpSpPr>
        <a:xfrm>
          <a:off x="0" y="0"/>
          <a:ext cx="0" cy="0"/>
          <a:chOff x="0" y="0"/>
          <a:chExt cx="0" cy="0"/>
        </a:xfrm>
      </p:grpSpPr>
      <p:sp>
        <p:nvSpPr>
          <p:cNvPr id="97" name="Google Shape;97;p2:notes">
            <a:extLst>
              <a:ext uri="{FF2B5EF4-FFF2-40B4-BE49-F238E27FC236}">
                <a16:creationId xmlns:a16="http://schemas.microsoft.com/office/drawing/2014/main" id="{3FAA08C9-4EFE-F9DD-BF8C-1C3D5F6A68B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2:notes">
            <a:extLst>
              <a:ext uri="{FF2B5EF4-FFF2-40B4-BE49-F238E27FC236}">
                <a16:creationId xmlns:a16="http://schemas.microsoft.com/office/drawing/2014/main" id="{82BDF14E-F676-C80D-C9FC-3953E2D004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739643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9BD3B39D-31DE-AA0A-9112-EE0EF9B84BA0}"/>
            </a:ext>
          </a:extLst>
        </p:cNvPr>
        <p:cNvGrpSpPr/>
        <p:nvPr/>
      </p:nvGrpSpPr>
      <p:grpSpPr>
        <a:xfrm>
          <a:off x="0" y="0"/>
          <a:ext cx="0" cy="0"/>
          <a:chOff x="0" y="0"/>
          <a:chExt cx="0" cy="0"/>
        </a:xfrm>
      </p:grpSpPr>
      <p:sp>
        <p:nvSpPr>
          <p:cNvPr id="97" name="Google Shape;97;p2:notes">
            <a:extLst>
              <a:ext uri="{FF2B5EF4-FFF2-40B4-BE49-F238E27FC236}">
                <a16:creationId xmlns:a16="http://schemas.microsoft.com/office/drawing/2014/main" id="{60A24D15-C314-C333-9268-69B0191C07E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2:notes">
            <a:extLst>
              <a:ext uri="{FF2B5EF4-FFF2-40B4-BE49-F238E27FC236}">
                <a16:creationId xmlns:a16="http://schemas.microsoft.com/office/drawing/2014/main" id="{88DC12BB-C3C3-B8A7-5AE7-83FCD90CC23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791585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9822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742198420"/>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60" r:id="rId10"/>
  </p:sldLayoutIdLst>
  <p:transition spd="slow">
    <p:fade/>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Ashwinvimal/LIFE-LINE-TECH---REAL-TIME-MEDICAL-AVAILABILITY-TRACKER"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subTitle" idx="1"/>
          </p:nvPr>
        </p:nvSpPr>
        <p:spPr>
          <a:xfrm>
            <a:off x="609599" y="2231290"/>
            <a:ext cx="10972800" cy="1096858"/>
          </a:xfrm>
          <a:prstGeom prst="rect">
            <a:avLst/>
          </a:prstGeom>
          <a:noFill/>
          <a:ln>
            <a:noFill/>
          </a:ln>
        </p:spPr>
        <p:txBody>
          <a:bodyPr spcFirstLastPara="1" wrap="square" lIns="91425" tIns="45700" rIns="91425" bIns="45700" anchor="t" anchorCtr="0">
            <a:noAutofit/>
          </a:bodyPr>
          <a:lstStyle/>
          <a:p>
            <a:pPr marL="0" lvl="0" indent="0" algn="ctr" rtl="0">
              <a:lnSpc>
                <a:spcPct val="150000"/>
              </a:lnSpc>
              <a:spcBef>
                <a:spcPts val="0"/>
              </a:spcBef>
              <a:spcAft>
                <a:spcPts val="0"/>
              </a:spcAft>
              <a:buClr>
                <a:schemeClr val="dk1"/>
              </a:buClr>
              <a:buSzPts val="2400"/>
              <a:buNone/>
            </a:pPr>
            <a:r>
              <a:rPr lang="en-US" sz="2000" b="1" dirty="0">
                <a:latin typeface="Times New Roman"/>
                <a:ea typeface="Times New Roman"/>
                <a:cs typeface="Times New Roman"/>
                <a:sym typeface="Times New Roman"/>
              </a:rPr>
              <a:t>DEPARTMENT OF COMPUTER SCIENCE ENGINEERING (ARTIFICIAL INTELLIGENCE AND MACHINE LEARNING)</a:t>
            </a:r>
            <a:endParaRPr lang="en-US" sz="2000" dirty="0"/>
          </a:p>
        </p:txBody>
      </p:sp>
      <p:sp>
        <p:nvSpPr>
          <p:cNvPr id="89" name="Google Shape;89;p13"/>
          <p:cNvSpPr txBox="1"/>
          <p:nvPr/>
        </p:nvSpPr>
        <p:spPr>
          <a:xfrm>
            <a:off x="2287613" y="3705210"/>
            <a:ext cx="7343600" cy="556652"/>
          </a:xfrm>
          <a:prstGeom prst="rect">
            <a:avLst/>
          </a:prstGeom>
          <a:noFill/>
          <a:ln>
            <a:noFill/>
          </a:ln>
          <a:effectLst>
            <a:outerShdw blurRad="25400">
              <a:srgbClr val="000000">
                <a:alpha val="45490"/>
              </a:srgbClr>
            </a:outerShdw>
          </a:effectLst>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2"/>
              </a:buClr>
              <a:buSzPts val="3200"/>
              <a:buFont typeface="Calibri"/>
              <a:buNone/>
            </a:pPr>
            <a:endParaRPr sz="3200" b="1" i="0" u="sng" strike="noStrike" cap="none">
              <a:solidFill>
                <a:schemeClr val="dk1"/>
              </a:solidFill>
              <a:latin typeface="Times New Roman"/>
              <a:ea typeface="Times New Roman"/>
              <a:cs typeface="Times New Roman"/>
              <a:sym typeface="Times New Roman"/>
            </a:endParaRPr>
          </a:p>
        </p:txBody>
      </p:sp>
      <p:sp>
        <p:nvSpPr>
          <p:cNvPr id="90" name="Google Shape;90;p13"/>
          <p:cNvSpPr txBox="1"/>
          <p:nvPr/>
        </p:nvSpPr>
        <p:spPr>
          <a:xfrm>
            <a:off x="530623" y="4236688"/>
            <a:ext cx="4262279" cy="419080"/>
          </a:xfrm>
          <a:prstGeom prst="rect">
            <a:avLst/>
          </a:prstGeom>
          <a:noFill/>
          <a:ln>
            <a:noFill/>
          </a:ln>
          <a:effectLst>
            <a:outerShdw blurRad="25400">
              <a:srgbClr val="000000">
                <a:alpha val="45490"/>
              </a:srgbClr>
            </a:outerShdw>
          </a:effectLst>
        </p:spPr>
        <p:txBody>
          <a:bodyPr spcFirstLastPara="1" wrap="square" lIns="91425" tIns="45700" rIns="91425" bIns="45700" anchor="t" anchorCtr="0">
            <a:noAutofit/>
          </a:bodyPr>
          <a:lstStyle/>
          <a:p>
            <a:pPr marL="36900" marR="0" lvl="0" indent="0" algn="ctr" rtl="0">
              <a:lnSpc>
                <a:spcPct val="100000"/>
              </a:lnSpc>
              <a:spcBef>
                <a:spcPts val="0"/>
              </a:spcBef>
              <a:spcAft>
                <a:spcPts val="0"/>
              </a:spcAft>
              <a:buClr>
                <a:schemeClr val="dk2"/>
              </a:buClr>
              <a:buSzPts val="1960"/>
              <a:buFont typeface="Noto Sans Symbols"/>
              <a:buNone/>
            </a:pPr>
            <a:r>
              <a:rPr lang="en-US" sz="2800" b="1" i="0" u="none" strike="noStrike" cap="none" dirty="0">
                <a:solidFill>
                  <a:schemeClr val="dk1"/>
                </a:solidFill>
                <a:latin typeface="Times New Roman"/>
                <a:ea typeface="Times New Roman"/>
                <a:cs typeface="Times New Roman"/>
                <a:sym typeface="Times New Roman"/>
              </a:rPr>
              <a:t>Presented by :</a:t>
            </a:r>
          </a:p>
          <a:p>
            <a:pPr marL="36900" marR="0" lvl="0" indent="0" algn="ctr" rtl="0">
              <a:lnSpc>
                <a:spcPct val="150000"/>
              </a:lnSpc>
              <a:spcBef>
                <a:spcPts val="0"/>
              </a:spcBef>
              <a:spcAft>
                <a:spcPts val="0"/>
              </a:spcAft>
              <a:buClr>
                <a:schemeClr val="dk2"/>
              </a:buClr>
              <a:buSzPts val="1960"/>
              <a:buFont typeface="Noto Sans Symbols"/>
              <a:buNone/>
            </a:pPr>
            <a:r>
              <a:rPr lang="en-US" sz="2000" b="1" dirty="0">
                <a:solidFill>
                  <a:schemeClr val="dk1"/>
                </a:solidFill>
                <a:latin typeface="Times New Roman"/>
                <a:cs typeface="Times New Roman"/>
                <a:sym typeface="Times New Roman"/>
              </a:rPr>
              <a:t>SAMEEHA J</a:t>
            </a:r>
          </a:p>
          <a:p>
            <a:pPr marL="36900" marR="0" lvl="0" indent="0" algn="ctr" rtl="0">
              <a:lnSpc>
                <a:spcPct val="150000"/>
              </a:lnSpc>
              <a:spcBef>
                <a:spcPts val="0"/>
              </a:spcBef>
              <a:spcAft>
                <a:spcPts val="0"/>
              </a:spcAft>
              <a:buClr>
                <a:schemeClr val="dk2"/>
              </a:buClr>
              <a:buSzPts val="1960"/>
              <a:buFont typeface="Noto Sans Symbols"/>
              <a:buNone/>
            </a:pPr>
            <a:r>
              <a:rPr lang="en-US" sz="2000" b="1" i="0" u="none" strike="noStrike" cap="none" dirty="0">
                <a:solidFill>
                  <a:schemeClr val="dk1"/>
                </a:solidFill>
                <a:latin typeface="Times New Roman"/>
                <a:ea typeface="Arial"/>
                <a:cs typeface="Times New Roman"/>
                <a:sym typeface="Times New Roman"/>
              </a:rPr>
              <a:t>SUDHARS</a:t>
            </a:r>
            <a:r>
              <a:rPr lang="en-US" sz="2000" b="1" dirty="0">
                <a:solidFill>
                  <a:schemeClr val="dk1"/>
                </a:solidFill>
                <a:latin typeface="Times New Roman"/>
                <a:cs typeface="Times New Roman"/>
                <a:sym typeface="Times New Roman"/>
              </a:rPr>
              <a:t>ON S R</a:t>
            </a:r>
          </a:p>
          <a:p>
            <a:pPr marL="36900" marR="0" lvl="0" indent="0" algn="ctr" rtl="0">
              <a:lnSpc>
                <a:spcPct val="150000"/>
              </a:lnSpc>
              <a:spcBef>
                <a:spcPts val="0"/>
              </a:spcBef>
              <a:spcAft>
                <a:spcPts val="0"/>
              </a:spcAft>
              <a:buClr>
                <a:schemeClr val="dk2"/>
              </a:buClr>
              <a:buSzPts val="1960"/>
              <a:buFont typeface="Noto Sans Symbols"/>
              <a:buNone/>
            </a:pPr>
            <a:r>
              <a:rPr lang="en-US" sz="2000" b="1" i="0" u="none" strike="noStrike" cap="none" dirty="0">
                <a:solidFill>
                  <a:schemeClr val="dk1"/>
                </a:solidFill>
                <a:latin typeface="Times New Roman"/>
                <a:ea typeface="Arial"/>
                <a:cs typeface="Times New Roman"/>
                <a:sym typeface="Times New Roman"/>
              </a:rPr>
              <a:t>VETHAABINAYA S</a:t>
            </a:r>
          </a:p>
          <a:p>
            <a:pPr marL="36900" marR="0" lvl="0" indent="0" algn="ctr" rtl="0">
              <a:lnSpc>
                <a:spcPct val="150000"/>
              </a:lnSpc>
              <a:spcBef>
                <a:spcPts val="0"/>
              </a:spcBef>
              <a:spcAft>
                <a:spcPts val="0"/>
              </a:spcAft>
              <a:buClr>
                <a:schemeClr val="dk2"/>
              </a:buClr>
              <a:buSzPts val="1960"/>
              <a:buFont typeface="Noto Sans Symbols"/>
              <a:buNone/>
            </a:pPr>
            <a:r>
              <a:rPr lang="en-US" sz="2000" b="1" dirty="0">
                <a:solidFill>
                  <a:schemeClr val="dk1"/>
                </a:solidFill>
                <a:latin typeface="Times New Roman"/>
                <a:cs typeface="Times New Roman"/>
                <a:sym typeface="Times New Roman"/>
              </a:rPr>
              <a:t>VIMAL AANANTH B R</a:t>
            </a:r>
            <a:endParaRPr sz="2000" b="0" i="0" u="none" strike="noStrike" cap="none" dirty="0">
              <a:solidFill>
                <a:srgbClr val="000000"/>
              </a:solidFill>
              <a:latin typeface="Arial"/>
              <a:ea typeface="Arial"/>
              <a:cs typeface="Arial"/>
              <a:sym typeface="Arial"/>
            </a:endParaRPr>
          </a:p>
          <a:p>
            <a:pPr marL="36900" marR="0" lvl="0" indent="0" algn="ctr" rtl="0">
              <a:lnSpc>
                <a:spcPct val="100000"/>
              </a:lnSpc>
              <a:spcBef>
                <a:spcPts val="1160"/>
              </a:spcBef>
              <a:spcAft>
                <a:spcPts val="0"/>
              </a:spcAft>
              <a:buClr>
                <a:schemeClr val="dk2"/>
              </a:buClr>
              <a:buSzPts val="1960"/>
              <a:buFont typeface="Noto Sans Symbols"/>
              <a:buNone/>
            </a:pPr>
            <a:endParaRPr sz="2800" b="1" i="0" u="none" strike="noStrike" cap="none" dirty="0">
              <a:solidFill>
                <a:schemeClr val="dk1"/>
              </a:solidFill>
              <a:latin typeface="Times New Roman"/>
              <a:ea typeface="Times New Roman"/>
              <a:cs typeface="Times New Roman"/>
              <a:sym typeface="Times New Roman"/>
            </a:endParaRPr>
          </a:p>
          <a:p>
            <a:pPr marL="36900" marR="0" lvl="0" indent="0" algn="ctr" rtl="0">
              <a:lnSpc>
                <a:spcPct val="100000"/>
              </a:lnSpc>
              <a:spcBef>
                <a:spcPts val="1160"/>
              </a:spcBef>
              <a:spcAft>
                <a:spcPts val="0"/>
              </a:spcAft>
              <a:buClr>
                <a:schemeClr val="dk2"/>
              </a:buClr>
              <a:buSzPts val="1960"/>
              <a:buFont typeface="Noto Sans Symbols"/>
              <a:buNone/>
            </a:pPr>
            <a:endParaRPr sz="2800" b="1" i="0" u="none" strike="noStrike" cap="none" dirty="0">
              <a:solidFill>
                <a:schemeClr val="dk1"/>
              </a:solidFill>
              <a:latin typeface="Times New Roman"/>
              <a:ea typeface="Times New Roman"/>
              <a:cs typeface="Times New Roman"/>
              <a:sym typeface="Times New Roman"/>
            </a:endParaRPr>
          </a:p>
        </p:txBody>
      </p:sp>
      <p:sp>
        <p:nvSpPr>
          <p:cNvPr id="91" name="Google Shape;91;p13"/>
          <p:cNvSpPr txBox="1"/>
          <p:nvPr/>
        </p:nvSpPr>
        <p:spPr>
          <a:xfrm>
            <a:off x="7199586" y="4283636"/>
            <a:ext cx="4741366" cy="419080"/>
          </a:xfrm>
          <a:prstGeom prst="rect">
            <a:avLst/>
          </a:prstGeom>
          <a:noFill/>
          <a:ln>
            <a:noFill/>
          </a:ln>
          <a:effectLst>
            <a:outerShdw blurRad="25400">
              <a:srgbClr val="000000">
                <a:alpha val="45490"/>
              </a:srgbClr>
            </a:outerShdw>
          </a:effectLst>
        </p:spPr>
        <p:txBody>
          <a:bodyPr spcFirstLastPara="1" wrap="square" lIns="91425" tIns="45700" rIns="91425" bIns="45700" anchor="t" anchorCtr="0">
            <a:noAutofit/>
          </a:bodyPr>
          <a:lstStyle/>
          <a:p>
            <a:pPr marL="36900" marR="0" lvl="0" indent="0" algn="l" rtl="0">
              <a:lnSpc>
                <a:spcPct val="100000"/>
              </a:lnSpc>
              <a:spcBef>
                <a:spcPts val="0"/>
              </a:spcBef>
              <a:spcAft>
                <a:spcPts val="0"/>
              </a:spcAft>
              <a:buClr>
                <a:schemeClr val="dk2"/>
              </a:buClr>
              <a:buSzPts val="1960"/>
              <a:buFont typeface="Noto Sans Symbols"/>
              <a:buNone/>
            </a:pPr>
            <a:r>
              <a:rPr lang="en-US" sz="2800" b="1" i="0" u="none" strike="noStrike" cap="none" dirty="0">
                <a:solidFill>
                  <a:schemeClr val="dk1"/>
                </a:solidFill>
                <a:latin typeface="Times New Roman"/>
                <a:ea typeface="Times New Roman"/>
                <a:cs typeface="Times New Roman"/>
                <a:sym typeface="Times New Roman"/>
              </a:rPr>
              <a:t>Guided by </a:t>
            </a:r>
            <a:r>
              <a:rPr lang="en-US" sz="2800" b="1" i="0" u="none" strike="noStrike" cap="none" dirty="0">
                <a:solidFill>
                  <a:schemeClr val="dk2"/>
                </a:solidFill>
                <a:latin typeface="Times New Roman"/>
                <a:ea typeface="Times New Roman"/>
                <a:cs typeface="Times New Roman"/>
                <a:sym typeface="Times New Roman"/>
              </a:rPr>
              <a:t>:</a:t>
            </a:r>
            <a:endParaRPr lang="en-US" sz="2000" b="1" dirty="0">
              <a:solidFill>
                <a:schemeClr val="tx1"/>
              </a:solidFill>
              <a:latin typeface="Times New Roman"/>
              <a:cs typeface="Times New Roman"/>
              <a:sym typeface="Times New Roman"/>
            </a:endParaRPr>
          </a:p>
          <a:p>
            <a:pPr marL="36900" marR="0" lvl="0" indent="0" algn="l" rtl="0">
              <a:lnSpc>
                <a:spcPct val="150000"/>
              </a:lnSpc>
              <a:spcBef>
                <a:spcPts val="0"/>
              </a:spcBef>
              <a:spcAft>
                <a:spcPts val="0"/>
              </a:spcAft>
              <a:buClr>
                <a:schemeClr val="dk2"/>
              </a:buClr>
              <a:buSzPts val="1960"/>
              <a:buFont typeface="Noto Sans Symbols"/>
              <a:buNone/>
            </a:pPr>
            <a:r>
              <a:rPr lang="en-US" sz="2000" b="1" dirty="0">
                <a:solidFill>
                  <a:schemeClr val="tx1"/>
                </a:solidFill>
                <a:latin typeface="Times New Roman"/>
                <a:cs typeface="Times New Roman"/>
                <a:sym typeface="Times New Roman"/>
              </a:rPr>
              <a:t>Mr. C. MUTHUKUMARAN M.E., (Ph.D.)</a:t>
            </a:r>
          </a:p>
          <a:p>
            <a:pPr marL="36900" marR="0" lvl="0" indent="0" algn="l" rtl="0">
              <a:lnSpc>
                <a:spcPct val="150000"/>
              </a:lnSpc>
              <a:spcBef>
                <a:spcPts val="0"/>
              </a:spcBef>
              <a:spcAft>
                <a:spcPts val="0"/>
              </a:spcAft>
              <a:buClr>
                <a:schemeClr val="dk2"/>
              </a:buClr>
              <a:buSzPts val="1960"/>
              <a:buFont typeface="Noto Sans Symbols"/>
              <a:buNone/>
            </a:pPr>
            <a:r>
              <a:rPr lang="en-US" sz="2000" b="1" dirty="0">
                <a:solidFill>
                  <a:schemeClr val="tx1"/>
                </a:solidFill>
                <a:latin typeface="Times New Roman"/>
                <a:cs typeface="Times New Roman"/>
                <a:sym typeface="Times New Roman"/>
              </a:rPr>
              <a:t>AP – CSE(AIML)</a:t>
            </a:r>
            <a:endParaRPr sz="2000" b="0" i="0" u="none" strike="noStrike" cap="none" dirty="0">
              <a:solidFill>
                <a:schemeClr val="tx1"/>
              </a:solidFill>
              <a:latin typeface="Arial"/>
              <a:ea typeface="Arial"/>
              <a:cs typeface="Arial"/>
              <a:sym typeface="Arial"/>
            </a:endParaRPr>
          </a:p>
        </p:txBody>
      </p:sp>
      <p:sp>
        <p:nvSpPr>
          <p:cNvPr id="92" name="Google Shape;92;p13"/>
          <p:cNvSpPr txBox="1"/>
          <p:nvPr/>
        </p:nvSpPr>
        <p:spPr>
          <a:xfrm>
            <a:off x="2424199" y="3318287"/>
            <a:ext cx="7343600" cy="453708"/>
          </a:xfrm>
          <a:prstGeom prst="rect">
            <a:avLst/>
          </a:prstGeom>
          <a:noFill/>
          <a:ln>
            <a:noFill/>
          </a:ln>
        </p:spPr>
        <p:txBody>
          <a:bodyPr spcFirstLastPara="1" wrap="square" lIns="91425" tIns="45700" rIns="91425" bIns="45700" anchor="t" anchorCtr="0">
            <a:noAutofit/>
          </a:bodyPr>
          <a:lstStyle/>
          <a:p>
            <a:pPr lvl="0" algn="ctr">
              <a:lnSpc>
                <a:spcPct val="90000"/>
              </a:lnSpc>
              <a:buClr>
                <a:schemeClr val="dk1"/>
              </a:buClr>
              <a:buSzPts val="2400"/>
            </a:pPr>
            <a:r>
              <a:rPr lang="en-IN" sz="2400" b="1" dirty="0">
                <a:latin typeface="Times New Roman" panose="02020603050405020304" pitchFamily="18" charset="0"/>
                <a:cs typeface="Times New Roman" panose="02020603050405020304" pitchFamily="18" charset="0"/>
              </a:rPr>
              <a:t>ADB1331 – DESIGN PROJECT</a:t>
            </a:r>
            <a:endParaRPr lang="en-IN" sz="24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93" name="Google Shape;93;p13"/>
          <p:cNvSpPr txBox="1"/>
          <p:nvPr/>
        </p:nvSpPr>
        <p:spPr>
          <a:xfrm>
            <a:off x="2424200" y="3808154"/>
            <a:ext cx="7343600" cy="453708"/>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800"/>
              <a:buFont typeface="Arial"/>
              <a:buNone/>
            </a:pPr>
            <a:r>
              <a:rPr lang="en-US" sz="2400" b="1" i="0" u="none" strike="noStrike" cap="none" dirty="0">
                <a:solidFill>
                  <a:schemeClr val="dk1"/>
                </a:solidFill>
                <a:latin typeface="Times New Roman"/>
                <a:ea typeface="Times New Roman"/>
                <a:cs typeface="Times New Roman"/>
                <a:sym typeface="Times New Roman"/>
              </a:rPr>
              <a:t>BATCH - 9 </a:t>
            </a:r>
          </a:p>
        </p:txBody>
      </p:sp>
      <p:pic>
        <p:nvPicPr>
          <p:cNvPr id="94" name="Google Shape;94;p13" title="logo.jpg"/>
          <p:cNvPicPr preferRelativeResize="0"/>
          <p:nvPr/>
        </p:nvPicPr>
        <p:blipFill>
          <a:blip r:embed="rId3">
            <a:alphaModFix/>
          </a:blip>
          <a:stretch>
            <a:fillRect/>
          </a:stretch>
        </p:blipFill>
        <p:spPr>
          <a:xfrm>
            <a:off x="2661762" y="237806"/>
            <a:ext cx="6868475" cy="1868450"/>
          </a:xfrm>
          <a:prstGeom prst="rect">
            <a:avLst/>
          </a:prstGeom>
          <a:noFill/>
          <a:ln>
            <a:noFill/>
          </a:ln>
        </p:spPr>
      </p:pic>
      <p:sp>
        <p:nvSpPr>
          <p:cNvPr id="95" name="Google Shape;95;p1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a:t>
            </a:fld>
            <a:endParaRPr/>
          </a:p>
        </p:txBody>
      </p:sp>
    </p:spTree>
    <p:extLst>
      <p:ext uri="{BB962C8B-B14F-4D97-AF65-F5344CB8AC3E}">
        <p14:creationId xmlns:p14="http://schemas.microsoft.com/office/powerpoint/2010/main" val="2503623836"/>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0" y="-4163"/>
            <a:ext cx="12192000" cy="1258343"/>
          </a:xfrm>
          <a:prstGeom prst="rect">
            <a:avLst/>
          </a:prstGeom>
          <a:noFill/>
          <a:ln>
            <a:noFill/>
          </a:ln>
          <a:effectLst>
            <a:outerShdw blurRad="25400">
              <a:srgbClr val="000000">
                <a:alpha val="45490"/>
              </a:srgbClr>
            </a:outerShdw>
          </a:effectLst>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dk1"/>
              </a:buClr>
              <a:buSzPts val="4800"/>
              <a:buFont typeface="Times New Roman"/>
              <a:buNone/>
            </a:pPr>
            <a:endParaRPr lang="en-US" sz="4400" b="1" i="0" u="none" strike="noStrike" cap="none" dirty="0">
              <a:solidFill>
                <a:schemeClr val="dk1"/>
              </a:solidFill>
              <a:latin typeface="Times New Roman"/>
              <a:ea typeface="Times New Roman"/>
              <a:cs typeface="Times New Roman"/>
              <a:sym typeface="Times New Roman"/>
            </a:endParaRPr>
          </a:p>
        </p:txBody>
      </p:sp>
      <p:sp>
        <p:nvSpPr>
          <p:cNvPr id="101" name="Google Shape;101;p14"/>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a:t>
            </a:fld>
            <a:endParaRPr/>
          </a:p>
        </p:txBody>
      </p:sp>
      <p:sp>
        <p:nvSpPr>
          <p:cNvPr id="3" name="TextBox 2">
            <a:extLst>
              <a:ext uri="{FF2B5EF4-FFF2-40B4-BE49-F238E27FC236}">
                <a16:creationId xmlns:a16="http://schemas.microsoft.com/office/drawing/2014/main" id="{8CA82EF8-F295-D459-B7C9-6CE14A8B9BF2}"/>
              </a:ext>
            </a:extLst>
          </p:cNvPr>
          <p:cNvSpPr txBox="1"/>
          <p:nvPr/>
        </p:nvSpPr>
        <p:spPr>
          <a:xfrm>
            <a:off x="1930400" y="4429074"/>
            <a:ext cx="8331200" cy="523220"/>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89BF61D-8B51-E78A-8CC3-377C76FAD8FA}"/>
              </a:ext>
            </a:extLst>
          </p:cNvPr>
          <p:cNvSpPr txBox="1"/>
          <p:nvPr/>
        </p:nvSpPr>
        <p:spPr>
          <a:xfrm>
            <a:off x="146398" y="1623633"/>
            <a:ext cx="11676503" cy="2435988"/>
          </a:xfrm>
          <a:prstGeom prst="rect">
            <a:avLst/>
          </a:prstGeom>
          <a:noFill/>
        </p:spPr>
        <p:txBody>
          <a:bodyPr wrap="square">
            <a:spAutoFit/>
          </a:bodyPr>
          <a:lstStyle/>
          <a:p>
            <a:pPr algn="ctr">
              <a:lnSpc>
                <a:spcPct val="150000"/>
              </a:lnSpc>
            </a:pPr>
            <a:r>
              <a:rPr lang="en-IN" sz="5400" b="1" dirty="0">
                <a:latin typeface="Times New Roman" panose="02020603050405020304" pitchFamily="18" charset="0"/>
                <a:cs typeface="Times New Roman" panose="02020603050405020304" pitchFamily="18" charset="0"/>
              </a:rPr>
              <a:t>Real-Time Medicine Availability Tracker for Emergency Healthcare</a:t>
            </a: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0" y="0"/>
            <a:ext cx="121920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sz="4000" b="1" dirty="0">
                <a:latin typeface="Times New Roman"/>
                <a:ea typeface="Times New Roman"/>
                <a:cs typeface="Times New Roman"/>
                <a:sym typeface="Times New Roman"/>
              </a:rPr>
              <a:t>PROBLEM STATEMENT</a:t>
            </a:r>
            <a:endParaRPr lang="en-US" sz="4000" dirty="0"/>
          </a:p>
        </p:txBody>
      </p:sp>
      <p:sp>
        <p:nvSpPr>
          <p:cNvPr id="107" name="Google Shape;107;p15"/>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a:t>
            </a:fld>
            <a:endParaRPr/>
          </a:p>
        </p:txBody>
      </p:sp>
      <p:sp>
        <p:nvSpPr>
          <p:cNvPr id="3" name="TextBox 2">
            <a:extLst>
              <a:ext uri="{FF2B5EF4-FFF2-40B4-BE49-F238E27FC236}">
                <a16:creationId xmlns:a16="http://schemas.microsoft.com/office/drawing/2014/main" id="{6FBF1346-1C87-5DCC-692E-5882443696A9}"/>
              </a:ext>
            </a:extLst>
          </p:cNvPr>
          <p:cNvSpPr txBox="1"/>
          <p:nvPr/>
        </p:nvSpPr>
        <p:spPr>
          <a:xfrm>
            <a:off x="1389122" y="2031021"/>
            <a:ext cx="9413756" cy="279595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People struggle to find specific medicines in nearby pharmacies.
No centralized system exists to check real-time medicine availability.
Users often waste time visiting multiple shops.
Lack of digital connectivity between pharmacies and customers.
Difficulty in locating nearby pharmacies quickly.</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0" y="0"/>
            <a:ext cx="12192000" cy="1325700"/>
          </a:xfrm>
          <a:prstGeom prst="rect">
            <a:avLst/>
          </a:prstGeom>
          <a:noFill/>
          <a:ln>
            <a:noFill/>
          </a:ln>
        </p:spPr>
        <p:txBody>
          <a:bodyPr spcFirstLastPara="1" wrap="square" lIns="91425" tIns="45700" rIns="91425" bIns="45700" anchor="ctr" anchorCtr="0">
            <a:normAutofit/>
          </a:bodyPr>
          <a:lstStyle/>
          <a:p>
            <a:pPr lvl="0" algn="ctr">
              <a:buSzPts val="4400"/>
            </a:pPr>
            <a:r>
              <a:rPr lang="en-US" sz="4000" b="1" dirty="0">
                <a:latin typeface="Times New Roman"/>
                <a:ea typeface="Times New Roman"/>
                <a:cs typeface="Times New Roman"/>
                <a:sym typeface="Times New Roman"/>
              </a:rPr>
              <a:t>RESEARCH OBJECTIVE </a:t>
            </a:r>
            <a:endParaRPr lang="en-US" sz="4000" dirty="0"/>
          </a:p>
        </p:txBody>
      </p:sp>
      <p:sp>
        <p:nvSpPr>
          <p:cNvPr id="107" name="Google Shape;107;p15"/>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
        <p:nvSpPr>
          <p:cNvPr id="3" name="TextBox 2">
            <a:extLst>
              <a:ext uri="{FF2B5EF4-FFF2-40B4-BE49-F238E27FC236}">
                <a16:creationId xmlns:a16="http://schemas.microsoft.com/office/drawing/2014/main" id="{6FBF1346-1C87-5DCC-692E-5882443696A9}"/>
              </a:ext>
            </a:extLst>
          </p:cNvPr>
          <p:cNvSpPr txBox="1"/>
          <p:nvPr/>
        </p:nvSpPr>
        <p:spPr>
          <a:xfrm>
            <a:off x="1072055" y="1116016"/>
            <a:ext cx="10047890" cy="5450018"/>
          </a:xfrm>
          <a:prstGeom prst="rect">
            <a:avLst/>
          </a:prstGeom>
          <a:noFill/>
        </p:spPr>
        <p:txBody>
          <a:bodyPr wrap="square">
            <a:spAutoFit/>
          </a:bodyPr>
          <a:lstStyle/>
          <a:p>
            <a:pPr algn="just">
              <a:lnSpc>
                <a:spcPct val="150000"/>
              </a:lnSpc>
              <a:buNone/>
            </a:pPr>
            <a:r>
              <a:rPr lang="en-IN" sz="2000" dirty="0">
                <a:latin typeface="Times New Roman" panose="02020603050405020304" pitchFamily="18" charset="0"/>
                <a:cs typeface="Times New Roman" panose="02020603050405020304" pitchFamily="18" charset="0"/>
              </a:rPr>
              <a:t>The primary objective of this project is to develop a smart and efficient system that helps users find the availability of medicines in real time from nearby pharmacies. The system aims to reduce the time and effort required to search for essential medicines, especially during emergency situations.</a:t>
            </a:r>
          </a:p>
          <a:p>
            <a:pPr algn="just">
              <a:lnSpc>
                <a:spcPct val="150000"/>
              </a:lnSpc>
              <a:buNone/>
            </a:pPr>
            <a:endParaRPr lang="en-US" sz="1050" dirty="0">
              <a:latin typeface="Times New Roman" panose="02020603050405020304" pitchFamily="18" charset="0"/>
              <a:cs typeface="Times New Roman" panose="02020603050405020304" pitchFamily="18" charset="0"/>
            </a:endParaRPr>
          </a:p>
          <a:p>
            <a:pPr algn="just">
              <a:lnSpc>
                <a:spcPct val="150000"/>
              </a:lnSpc>
              <a:buNone/>
            </a:pPr>
            <a:r>
              <a:rPr lang="en-US" sz="20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Scope of the Project </a:t>
            </a: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Real-time medicine availability tracking
Location-based pharmacy search using GPS
Quick and efficient medicine search with autocomplete
Admin management for pharmacy and stock updates
Online purchasing and cart system integration  </a:t>
            </a: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Suitable for emergency healthcare support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9570701"/>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a:extLst>
            <a:ext uri="{FF2B5EF4-FFF2-40B4-BE49-F238E27FC236}">
              <a16:creationId xmlns:a16="http://schemas.microsoft.com/office/drawing/2014/main" id="{5FEFE7A8-0162-E44F-DE67-E8A2BACA91D1}"/>
            </a:ext>
          </a:extLst>
        </p:cNvPr>
        <p:cNvGrpSpPr/>
        <p:nvPr/>
      </p:nvGrpSpPr>
      <p:grpSpPr>
        <a:xfrm>
          <a:off x="0" y="0"/>
          <a:ext cx="0" cy="0"/>
          <a:chOff x="0" y="0"/>
          <a:chExt cx="0" cy="0"/>
        </a:xfrm>
      </p:grpSpPr>
      <p:sp>
        <p:nvSpPr>
          <p:cNvPr id="106" name="Google Shape;106;p15">
            <a:extLst>
              <a:ext uri="{FF2B5EF4-FFF2-40B4-BE49-F238E27FC236}">
                <a16:creationId xmlns:a16="http://schemas.microsoft.com/office/drawing/2014/main" id="{9D9C5C1C-65EE-AFD1-2A19-578EFB4419A1}"/>
              </a:ext>
            </a:extLst>
          </p:cNvPr>
          <p:cNvSpPr txBox="1">
            <a:spLocks noGrp="1"/>
          </p:cNvSpPr>
          <p:nvPr>
            <p:ph type="title"/>
          </p:nvPr>
        </p:nvSpPr>
        <p:spPr>
          <a:xfrm>
            <a:off x="0" y="0"/>
            <a:ext cx="12192000" cy="1325700"/>
          </a:xfrm>
          <a:prstGeom prst="rect">
            <a:avLst/>
          </a:prstGeom>
          <a:noFill/>
          <a:ln>
            <a:noFill/>
          </a:ln>
        </p:spPr>
        <p:txBody>
          <a:bodyPr spcFirstLastPara="1" wrap="square" lIns="91425" tIns="45700" rIns="91425" bIns="45700" anchor="ctr" anchorCtr="0">
            <a:normAutofit/>
          </a:bodyPr>
          <a:lstStyle/>
          <a:p>
            <a:pPr lvl="0" algn="ctr">
              <a:buSzPts val="4400"/>
            </a:pPr>
            <a:r>
              <a:rPr lang="en-US" sz="4000" b="1" dirty="0">
                <a:latin typeface="Times New Roman"/>
                <a:ea typeface="Times New Roman"/>
                <a:cs typeface="Times New Roman"/>
                <a:sym typeface="Times New Roman"/>
              </a:rPr>
              <a:t>EXISTING SYSTEM </a:t>
            </a:r>
            <a:endParaRPr lang="en-US" sz="4000" dirty="0"/>
          </a:p>
        </p:txBody>
      </p:sp>
      <p:sp>
        <p:nvSpPr>
          <p:cNvPr id="107" name="Google Shape;107;p15">
            <a:extLst>
              <a:ext uri="{FF2B5EF4-FFF2-40B4-BE49-F238E27FC236}">
                <a16:creationId xmlns:a16="http://schemas.microsoft.com/office/drawing/2014/main" id="{163DD65A-3113-8BB5-0F0B-677938426783}"/>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a:t>
            </a:fld>
            <a:endParaRPr/>
          </a:p>
        </p:txBody>
      </p:sp>
      <p:sp>
        <p:nvSpPr>
          <p:cNvPr id="3" name="TextBox 2">
            <a:extLst>
              <a:ext uri="{FF2B5EF4-FFF2-40B4-BE49-F238E27FC236}">
                <a16:creationId xmlns:a16="http://schemas.microsoft.com/office/drawing/2014/main" id="{1E14F66D-A90A-9F46-9428-07C3600AD234}"/>
              </a:ext>
            </a:extLst>
          </p:cNvPr>
          <p:cNvSpPr txBox="1"/>
          <p:nvPr/>
        </p:nvSpPr>
        <p:spPr>
          <a:xfrm>
            <a:off x="1072055" y="1226693"/>
            <a:ext cx="10047890" cy="5053756"/>
          </a:xfrm>
          <a:prstGeom prst="rect">
            <a:avLst/>
          </a:prstGeom>
          <a:noFill/>
        </p:spPr>
        <p:txBody>
          <a:bodyPr wrap="square">
            <a:spAutoFit/>
          </a:bodyPr>
          <a:lstStyle/>
          <a:p>
            <a:pPr algn="just">
              <a:lnSpc>
                <a:spcPct val="150000"/>
              </a:lnSpc>
              <a:buNone/>
            </a:pPr>
            <a:r>
              <a:rPr lang="en-IN" sz="2000" dirty="0">
                <a:latin typeface="Times New Roman" panose="02020603050405020304" pitchFamily="18" charset="0"/>
                <a:cs typeface="Times New Roman" panose="02020603050405020304" pitchFamily="18" charset="0"/>
              </a:rPr>
              <a:t>Currently, people depend on traditional methods such as visiting multiple pharmacies or making phone calls to check medicine availability. There is no centralized system that provides real-time information about nearby pharmacies and their stock.</a:t>
            </a:r>
            <a:endParaRPr lang="en-US" sz="2000" dirty="0">
              <a:latin typeface="Times New Roman" panose="02020603050405020304" pitchFamily="18" charset="0"/>
              <a:cs typeface="Times New Roman" panose="02020603050405020304" pitchFamily="18" charset="0"/>
            </a:endParaRPr>
          </a:p>
          <a:p>
            <a:pPr algn="just">
              <a:buNone/>
            </a:pPr>
            <a:endParaRPr lang="en-US" sz="2000" dirty="0">
              <a:latin typeface="Times New Roman" panose="02020603050405020304" pitchFamily="18" charset="0"/>
              <a:cs typeface="Times New Roman" panose="02020603050405020304" pitchFamily="18" charset="0"/>
            </a:endParaRPr>
          </a:p>
          <a:p>
            <a:pPr algn="just">
              <a:lnSpc>
                <a:spcPct val="150000"/>
              </a:lnSpc>
              <a:buNone/>
            </a:pPr>
            <a:r>
              <a:rPr lang="en-US" sz="20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Limitations </a:t>
            </a: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No real-time medicine availability information
Time-consuming manual search process
No location-based pharmacy detection
Lack of accuracy and reliability
No integration with online purchasing systems
Difficult during emergency situations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0218795"/>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D94410CB-E528-74FE-DDAA-8E72F6277211}"/>
            </a:ext>
          </a:extLst>
        </p:cNvPr>
        <p:cNvGrpSpPr/>
        <p:nvPr/>
      </p:nvGrpSpPr>
      <p:grpSpPr>
        <a:xfrm>
          <a:off x="0" y="0"/>
          <a:ext cx="0" cy="0"/>
          <a:chOff x="0" y="0"/>
          <a:chExt cx="0" cy="0"/>
        </a:xfrm>
      </p:grpSpPr>
      <p:sp>
        <p:nvSpPr>
          <p:cNvPr id="113" name="Google Shape;113;p16">
            <a:extLst>
              <a:ext uri="{FF2B5EF4-FFF2-40B4-BE49-F238E27FC236}">
                <a16:creationId xmlns:a16="http://schemas.microsoft.com/office/drawing/2014/main" id="{D1A7FDFC-3705-C9A3-07CA-A4EC9AE46ADE}"/>
              </a:ext>
            </a:extLst>
          </p:cNvPr>
          <p:cNvSpPr txBox="1">
            <a:spLocks noGrp="1"/>
          </p:cNvSpPr>
          <p:nvPr>
            <p:ph type="title"/>
          </p:nvPr>
        </p:nvSpPr>
        <p:spPr>
          <a:xfrm>
            <a:off x="0" y="0"/>
            <a:ext cx="121920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4000" b="1" dirty="0">
                <a:latin typeface="Times New Roman"/>
                <a:ea typeface="Times New Roman"/>
                <a:cs typeface="Times New Roman"/>
                <a:sym typeface="Times New Roman"/>
              </a:rPr>
              <a:t>PROPOSED SYSTEM</a:t>
            </a:r>
          </a:p>
        </p:txBody>
      </p:sp>
      <p:sp>
        <p:nvSpPr>
          <p:cNvPr id="114" name="Google Shape;114;p16">
            <a:extLst>
              <a:ext uri="{FF2B5EF4-FFF2-40B4-BE49-F238E27FC236}">
                <a16:creationId xmlns:a16="http://schemas.microsoft.com/office/drawing/2014/main" id="{D5A378C9-A077-3A27-DC7B-3173FD5A14F8}"/>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
        <p:nvSpPr>
          <p:cNvPr id="4" name="Rectangle 3">
            <a:extLst>
              <a:ext uri="{FF2B5EF4-FFF2-40B4-BE49-F238E27FC236}">
                <a16:creationId xmlns:a16="http://schemas.microsoft.com/office/drawing/2014/main" id="{C4E85278-1BBB-A125-AA78-E7111E691947}"/>
              </a:ext>
            </a:extLst>
          </p:cNvPr>
          <p:cNvSpPr>
            <a:spLocks noChangeArrowheads="1"/>
          </p:cNvSpPr>
          <p:nvPr/>
        </p:nvSpPr>
        <p:spPr bwMode="auto">
          <a:xfrm rot="10800000" flipV="1">
            <a:off x="1064260" y="1325700"/>
            <a:ext cx="10063480" cy="4884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system is a Real-Time Medicine Availability Tracker that allows users to search for medicines and find nearby pharmacies instantly. It uses GPS to detect the user’s current location and displays nearby pharmacies along with available medicines. The system also includes an admin panel to manage pharmacy details, update medicine stock, and handle user orders. Users can add medicines to a cart and purchase them using different payment methods.</a:t>
            </a:r>
          </a:p>
          <a:p>
            <a:pPr marR="0" lvl="0" algn="just" defTabSz="914400" rtl="0" eaLnBrk="0" fontAlgn="base" latinLnBrk="0" hangingPunct="0">
              <a:lnSpc>
                <a:spcPct val="150000"/>
              </a:lnSpc>
              <a:spcBef>
                <a:spcPct val="0"/>
              </a:spcBef>
              <a:spcAft>
                <a:spcPct val="0"/>
              </a:spcAft>
              <a:buClrTx/>
              <a:buSzTx/>
              <a:tabLs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ClrTx/>
            </a:pPr>
            <a:r>
              <a:rPr lang="en-US" sz="2000" dirty="0">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Merits: </a:t>
            </a:r>
          </a:p>
          <a:p>
            <a:pPr marL="342900" lvl="0" indent="-342900" algn="just" eaLnBrk="0" fontAlgn="base" hangingPunct="0">
              <a:lnSpc>
                <a:spcPct val="150000"/>
              </a:lnSpc>
              <a:spcBef>
                <a:spcPct val="0"/>
              </a:spcBef>
              <a:spcAft>
                <a:spcPct val="0"/>
              </a:spcAft>
              <a:buClrTx/>
              <a:buFont typeface="Wingdings" panose="05000000000000000000" pitchFamily="2" charset="2"/>
              <a:buChar char="Ø"/>
            </a:pP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medicine availability
Faster and more accurate search</a:t>
            </a:r>
            <a:r>
              <a:rPr lang="en-IN" altLang="en-US" sz="2000" dirty="0">
                <a:solidFill>
                  <a:schemeClr val="tx1"/>
                </a:solidFill>
                <a:latin typeface="Times New Roman" panose="02020603050405020304" pitchFamily="18" charset="0"/>
                <a:cs typeface="Times New Roman" panose="02020603050405020304" pitchFamily="18" charset="0"/>
              </a:rPr>
              <a:t> &amp; payment options </a:t>
            </a: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GPS-based nearest pharmacy detection</a:t>
            </a:r>
            <a:r>
              <a:rPr lang="en-IN" altLang="en-US" sz="2000" dirty="0">
                <a:solidFill>
                  <a:schemeClr val="tx1"/>
                </a:solidFill>
                <a:latin typeface="Times New Roman" panose="02020603050405020304" pitchFamily="18" charset="0"/>
                <a:cs typeface="Times New Roman" panose="02020603050405020304" pitchFamily="18" charset="0"/>
              </a:rPr>
              <a:t> &amp; Online purchase </a:t>
            </a: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Efficient admin management system &amp; Reduces time during emergencies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4166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6"/>
          <p:cNvSpPr txBox="1">
            <a:spLocks noGrp="1"/>
          </p:cNvSpPr>
          <p:nvPr>
            <p:ph type="title"/>
          </p:nvPr>
        </p:nvSpPr>
        <p:spPr>
          <a:xfrm>
            <a:off x="0" y="0"/>
            <a:ext cx="12192000" cy="1325700"/>
          </a:xfrm>
          <a:prstGeom prst="rect">
            <a:avLst/>
          </a:prstGeom>
        </p:spPr>
        <p:txBody>
          <a:bodyPr spcFirstLastPara="1" wrap="square" lIns="91425" tIns="45700" rIns="91425" bIns="45700" anchor="ctr" anchorCtr="0">
            <a:normAutofit/>
          </a:bodyPr>
          <a:lstStyle/>
          <a:p>
            <a:pPr lvl="0" algn="ctr"/>
            <a:r>
              <a:rPr lang="en-US" sz="4000" b="1" dirty="0">
                <a:latin typeface="Times New Roman"/>
                <a:ea typeface="Times New Roman"/>
                <a:cs typeface="Times New Roman"/>
                <a:sym typeface="Times New Roman"/>
              </a:rPr>
              <a:t>SYSTEM ARCHITECTURE</a:t>
            </a:r>
          </a:p>
        </p:txBody>
      </p:sp>
      <p:sp>
        <p:nvSpPr>
          <p:cNvPr id="114" name="Google Shape;114;p1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pic>
        <p:nvPicPr>
          <p:cNvPr id="3" name="Picture 2">
            <a:extLst>
              <a:ext uri="{FF2B5EF4-FFF2-40B4-BE49-F238E27FC236}">
                <a16:creationId xmlns:a16="http://schemas.microsoft.com/office/drawing/2014/main" id="{B965FA13-4295-6289-AB9E-5E7D0A39AADF}"/>
              </a:ext>
            </a:extLst>
          </p:cNvPr>
          <p:cNvPicPr>
            <a:picLocks noChangeAspect="1"/>
          </p:cNvPicPr>
          <p:nvPr/>
        </p:nvPicPr>
        <p:blipFill>
          <a:blip r:embed="rId3"/>
          <a:stretch>
            <a:fillRect/>
          </a:stretch>
        </p:blipFill>
        <p:spPr>
          <a:xfrm>
            <a:off x="1365116" y="1508848"/>
            <a:ext cx="9461767" cy="4664353"/>
          </a:xfrm>
          <a:prstGeom prst="rect">
            <a:avLst/>
          </a:prstGeom>
        </p:spPr>
      </p:pic>
    </p:spTree>
    <p:extLst>
      <p:ext uri="{BB962C8B-B14F-4D97-AF65-F5344CB8AC3E}">
        <p14:creationId xmlns:p14="http://schemas.microsoft.com/office/powerpoint/2010/main" val="40652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D94410CB-E528-74FE-DDAA-8E72F6277211}"/>
            </a:ext>
          </a:extLst>
        </p:cNvPr>
        <p:cNvGrpSpPr/>
        <p:nvPr/>
      </p:nvGrpSpPr>
      <p:grpSpPr>
        <a:xfrm>
          <a:off x="0" y="0"/>
          <a:ext cx="0" cy="0"/>
          <a:chOff x="0" y="0"/>
          <a:chExt cx="0" cy="0"/>
        </a:xfrm>
      </p:grpSpPr>
      <p:sp>
        <p:nvSpPr>
          <p:cNvPr id="113" name="Google Shape;113;p16">
            <a:extLst>
              <a:ext uri="{FF2B5EF4-FFF2-40B4-BE49-F238E27FC236}">
                <a16:creationId xmlns:a16="http://schemas.microsoft.com/office/drawing/2014/main" id="{D1A7FDFC-3705-C9A3-07CA-A4EC9AE46ADE}"/>
              </a:ext>
            </a:extLst>
          </p:cNvPr>
          <p:cNvSpPr txBox="1">
            <a:spLocks noGrp="1"/>
          </p:cNvSpPr>
          <p:nvPr>
            <p:ph type="title"/>
          </p:nvPr>
        </p:nvSpPr>
        <p:spPr>
          <a:xfrm>
            <a:off x="0" y="0"/>
            <a:ext cx="12192000" cy="1325700"/>
          </a:xfrm>
          <a:prstGeom prst="rect">
            <a:avLst/>
          </a:prstGeom>
        </p:spPr>
        <p:txBody>
          <a:bodyPr spcFirstLastPara="1" wrap="square" lIns="91425" tIns="45700" rIns="91425" bIns="45700" anchor="ctr" anchorCtr="0">
            <a:normAutofit/>
          </a:bodyPr>
          <a:lstStyle/>
          <a:p>
            <a:pPr lvl="0" algn="ctr"/>
            <a:r>
              <a:rPr lang="en-US" sz="4000" b="1" dirty="0">
                <a:latin typeface="Times New Roman"/>
                <a:ea typeface="Times New Roman"/>
                <a:cs typeface="Times New Roman"/>
                <a:sym typeface="Times New Roman"/>
              </a:rPr>
              <a:t>WORKING PRINCIPLE</a:t>
            </a:r>
          </a:p>
        </p:txBody>
      </p:sp>
      <p:sp>
        <p:nvSpPr>
          <p:cNvPr id="114" name="Google Shape;114;p16">
            <a:extLst>
              <a:ext uri="{FF2B5EF4-FFF2-40B4-BE49-F238E27FC236}">
                <a16:creationId xmlns:a16="http://schemas.microsoft.com/office/drawing/2014/main" id="{D5A378C9-A077-3A27-DC7B-3173FD5A14F8}"/>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a:t>
            </a:fld>
            <a:endParaRPr/>
          </a:p>
        </p:txBody>
      </p:sp>
      <p:sp>
        <p:nvSpPr>
          <p:cNvPr id="4" name="Rectangle 3">
            <a:extLst>
              <a:ext uri="{FF2B5EF4-FFF2-40B4-BE49-F238E27FC236}">
                <a16:creationId xmlns:a16="http://schemas.microsoft.com/office/drawing/2014/main" id="{C4E85278-1BBB-A125-AA78-E7111E691947}"/>
              </a:ext>
            </a:extLst>
          </p:cNvPr>
          <p:cNvSpPr>
            <a:spLocks noChangeArrowheads="1"/>
          </p:cNvSpPr>
          <p:nvPr/>
        </p:nvSpPr>
        <p:spPr bwMode="auto">
          <a:xfrm rot="10800000" flipV="1">
            <a:off x="1051034" y="1325700"/>
            <a:ext cx="10089932"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works by integrating location services, database management, and user interaction modules: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user enters a medicine name in the search bar
The system provides autocomplete suggestions
User location is detected using GPS
Nearby pharmacies are identified based on location
Medicine availability is fetched from the database
Results are displayed along with distance and details
Users can add medicines to cart and proceed to purchase
Admin updates ensure real-time stock accuracy</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1473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334A05E5-DAD5-6606-5BA7-0B6723A6CA70}"/>
            </a:ext>
          </a:extLst>
        </p:cNvPr>
        <p:cNvGrpSpPr/>
        <p:nvPr/>
      </p:nvGrpSpPr>
      <p:grpSpPr>
        <a:xfrm>
          <a:off x="0" y="0"/>
          <a:ext cx="0" cy="0"/>
          <a:chOff x="0" y="0"/>
          <a:chExt cx="0" cy="0"/>
        </a:xfrm>
      </p:grpSpPr>
      <p:sp>
        <p:nvSpPr>
          <p:cNvPr id="100" name="Google Shape;100;p14">
            <a:extLst>
              <a:ext uri="{FF2B5EF4-FFF2-40B4-BE49-F238E27FC236}">
                <a16:creationId xmlns:a16="http://schemas.microsoft.com/office/drawing/2014/main" id="{79AC73DA-34E3-52F8-6712-726041780B4E}"/>
              </a:ext>
            </a:extLst>
          </p:cNvPr>
          <p:cNvSpPr txBox="1"/>
          <p:nvPr/>
        </p:nvSpPr>
        <p:spPr>
          <a:xfrm>
            <a:off x="0" y="-4163"/>
            <a:ext cx="12192000" cy="1258343"/>
          </a:xfrm>
          <a:prstGeom prst="rect">
            <a:avLst/>
          </a:prstGeom>
          <a:noFill/>
          <a:ln>
            <a:noFill/>
          </a:ln>
          <a:effectLst>
            <a:outerShdw blurRad="25400">
              <a:srgbClr val="000000">
                <a:alpha val="45490"/>
              </a:srgbClr>
            </a:outerShdw>
          </a:effectLst>
        </p:spPr>
        <p:txBody>
          <a:bodyPr spcFirstLastPara="1" wrap="square" lIns="91425" tIns="45700" rIns="91425" bIns="45700" anchor="ctr" anchorCtr="0">
            <a:normAutofit/>
          </a:bodyPr>
          <a:lstStyle/>
          <a:p>
            <a:pPr lvl="0" algn="ctr">
              <a:buClr>
                <a:schemeClr val="dk1"/>
              </a:buClr>
              <a:buSzPts val="4800"/>
            </a:pPr>
            <a:r>
              <a:rPr lang="en-US" sz="4000" b="1" dirty="0">
                <a:solidFill>
                  <a:schemeClr val="dk1"/>
                </a:solidFill>
                <a:latin typeface="Times New Roman"/>
                <a:ea typeface="Times New Roman"/>
                <a:cs typeface="Times New Roman"/>
                <a:sym typeface="Times New Roman"/>
              </a:rPr>
              <a:t>IMPLEMENTATION DETAILS</a:t>
            </a:r>
            <a:endParaRPr lang="en-US" sz="4000" b="1" i="0" u="none" strike="noStrike" cap="none" dirty="0">
              <a:solidFill>
                <a:schemeClr val="dk2"/>
              </a:solidFill>
              <a:latin typeface="Times New Roman"/>
              <a:ea typeface="Times New Roman"/>
              <a:cs typeface="Times New Roman"/>
              <a:sym typeface="Times New Roman"/>
            </a:endParaRPr>
          </a:p>
        </p:txBody>
      </p:sp>
      <p:sp>
        <p:nvSpPr>
          <p:cNvPr id="101" name="Google Shape;101;p14">
            <a:extLst>
              <a:ext uri="{FF2B5EF4-FFF2-40B4-BE49-F238E27FC236}">
                <a16:creationId xmlns:a16="http://schemas.microsoft.com/office/drawing/2014/main" id="{D3E9C02E-80BF-6101-4C73-8267C9D37569}"/>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a:t>
            </a:fld>
            <a:endParaRPr/>
          </a:p>
        </p:txBody>
      </p:sp>
      <p:sp>
        <p:nvSpPr>
          <p:cNvPr id="3" name="TextBox 2">
            <a:extLst>
              <a:ext uri="{FF2B5EF4-FFF2-40B4-BE49-F238E27FC236}">
                <a16:creationId xmlns:a16="http://schemas.microsoft.com/office/drawing/2014/main" id="{6EF43582-1098-7C9B-53E9-65D0E2FAC1A1}"/>
              </a:ext>
            </a:extLst>
          </p:cNvPr>
          <p:cNvSpPr txBox="1"/>
          <p:nvPr/>
        </p:nvSpPr>
        <p:spPr>
          <a:xfrm>
            <a:off x="1930400" y="4429074"/>
            <a:ext cx="8331200" cy="523220"/>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ECF15B0-095C-D40A-FC06-0B20AA9D2588}"/>
              </a:ext>
            </a:extLst>
          </p:cNvPr>
          <p:cNvSpPr txBox="1"/>
          <p:nvPr/>
        </p:nvSpPr>
        <p:spPr>
          <a:xfrm>
            <a:off x="1061545" y="2170939"/>
            <a:ext cx="10068910" cy="3268652"/>
          </a:xfrm>
          <a:prstGeom prst="rect">
            <a:avLst/>
          </a:prstGeom>
          <a:noFill/>
        </p:spPr>
        <p:txBody>
          <a:bodyPr wrap="square">
            <a:spAutoFit/>
          </a:bodyPr>
          <a:lstStyle/>
          <a:p>
            <a:pPr>
              <a:lnSpc>
                <a:spcPct val="150000"/>
              </a:lnSpc>
            </a:pPr>
            <a:r>
              <a:rPr lang="en-IN" sz="2000" dirty="0">
                <a:latin typeface="Times New Roman" panose="02020603050405020304" pitchFamily="18" charset="0"/>
                <a:cs typeface="Times New Roman" panose="02020603050405020304" pitchFamily="18" charset="0"/>
              </a:rPr>
              <a:t>The project is implemented using modern web technologies and database integration:</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Frontend developed using React / Vite for responsive UI
Backend/database used for storing pharmacy and medicine data
GPS integration for real-time location detection
Map integration for displaying pharmacy locations
Admin panel for managing stock and pharmacies
Cart and payment system implemented for user transactions</a:t>
            </a:r>
            <a:endParaRPr lang="en-US"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0D0AE01-638D-2D27-FE50-FC3147010529}"/>
              </a:ext>
            </a:extLst>
          </p:cNvPr>
          <p:cNvSpPr txBox="1"/>
          <p:nvPr/>
        </p:nvSpPr>
        <p:spPr>
          <a:xfrm>
            <a:off x="2883601" y="1481727"/>
            <a:ext cx="6127530" cy="461665"/>
          </a:xfrm>
          <a:prstGeom prst="rect">
            <a:avLst/>
          </a:prstGeom>
          <a:noFill/>
        </p:spPr>
        <p:txBody>
          <a:bodyPr wrap="square">
            <a:spAutoFit/>
          </a:bodyPr>
          <a:lstStyle/>
          <a:p>
            <a:pPr algn="ctr"/>
            <a:r>
              <a:rPr lang="en-IN" sz="2400" dirty="0">
                <a:solidFill>
                  <a:srgbClr val="0070C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PROJECT IMPLEMENTATION</a:t>
            </a:r>
            <a:endParaRPr lang="en-IN" sz="24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3615384"/>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522DDA5B-34B3-DCCC-4BF9-068CB0BE6F7B}"/>
            </a:ext>
          </a:extLst>
        </p:cNvPr>
        <p:cNvGrpSpPr/>
        <p:nvPr/>
      </p:nvGrpSpPr>
      <p:grpSpPr>
        <a:xfrm>
          <a:off x="0" y="0"/>
          <a:ext cx="0" cy="0"/>
          <a:chOff x="0" y="0"/>
          <a:chExt cx="0" cy="0"/>
        </a:xfrm>
      </p:grpSpPr>
      <p:sp>
        <p:nvSpPr>
          <p:cNvPr id="100" name="Google Shape;100;p14">
            <a:extLst>
              <a:ext uri="{FF2B5EF4-FFF2-40B4-BE49-F238E27FC236}">
                <a16:creationId xmlns:a16="http://schemas.microsoft.com/office/drawing/2014/main" id="{8A75F57F-45AD-54B3-8845-204C9569736F}"/>
              </a:ext>
            </a:extLst>
          </p:cNvPr>
          <p:cNvSpPr txBox="1"/>
          <p:nvPr/>
        </p:nvSpPr>
        <p:spPr>
          <a:xfrm>
            <a:off x="0" y="-4163"/>
            <a:ext cx="12192000" cy="1258343"/>
          </a:xfrm>
          <a:prstGeom prst="rect">
            <a:avLst/>
          </a:prstGeom>
          <a:noFill/>
          <a:ln>
            <a:noFill/>
          </a:ln>
          <a:effectLst>
            <a:outerShdw blurRad="25400">
              <a:srgbClr val="000000">
                <a:alpha val="45490"/>
              </a:srgbClr>
            </a:outerShdw>
          </a:effectLst>
        </p:spPr>
        <p:txBody>
          <a:bodyPr spcFirstLastPara="1" wrap="square" lIns="91425" tIns="45700" rIns="91425" bIns="45700" anchor="ctr" anchorCtr="0">
            <a:normAutofit/>
          </a:bodyPr>
          <a:lstStyle/>
          <a:p>
            <a:pPr lvl="0" algn="ctr">
              <a:buClr>
                <a:schemeClr val="dk1"/>
              </a:buClr>
              <a:buSzPts val="4800"/>
            </a:pPr>
            <a:r>
              <a:rPr lang="en-US" sz="4000" b="1" dirty="0">
                <a:solidFill>
                  <a:schemeClr val="dk1"/>
                </a:solidFill>
                <a:latin typeface="Times New Roman"/>
                <a:ea typeface="Times New Roman"/>
                <a:cs typeface="Times New Roman"/>
                <a:sym typeface="Times New Roman"/>
              </a:rPr>
              <a:t>OUTPUT/ RESULT</a:t>
            </a:r>
            <a:endParaRPr lang="en-US" sz="4000" b="1" i="0" u="none" strike="noStrike" cap="none" dirty="0">
              <a:solidFill>
                <a:schemeClr val="dk2"/>
              </a:solidFill>
              <a:latin typeface="Times New Roman"/>
              <a:ea typeface="Times New Roman"/>
              <a:cs typeface="Times New Roman"/>
              <a:sym typeface="Times New Roman"/>
            </a:endParaRPr>
          </a:p>
        </p:txBody>
      </p:sp>
      <p:sp>
        <p:nvSpPr>
          <p:cNvPr id="101" name="Google Shape;101;p14">
            <a:extLst>
              <a:ext uri="{FF2B5EF4-FFF2-40B4-BE49-F238E27FC236}">
                <a16:creationId xmlns:a16="http://schemas.microsoft.com/office/drawing/2014/main" id="{CE066111-43ED-564E-9A0D-B85CF4ABD514}"/>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10</a:t>
            </a:fld>
            <a:endParaRPr/>
          </a:p>
        </p:txBody>
      </p:sp>
      <p:sp>
        <p:nvSpPr>
          <p:cNvPr id="3" name="TextBox 2">
            <a:extLst>
              <a:ext uri="{FF2B5EF4-FFF2-40B4-BE49-F238E27FC236}">
                <a16:creationId xmlns:a16="http://schemas.microsoft.com/office/drawing/2014/main" id="{44EADB0F-BA22-BCB5-B2DA-B171841301C1}"/>
              </a:ext>
            </a:extLst>
          </p:cNvPr>
          <p:cNvSpPr txBox="1"/>
          <p:nvPr/>
        </p:nvSpPr>
        <p:spPr>
          <a:xfrm>
            <a:off x="1930400" y="4429074"/>
            <a:ext cx="8331200" cy="523220"/>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1072054" y="1254180"/>
            <a:ext cx="10079421" cy="4768248"/>
          </a:xfrm>
          <a:prstGeom prst="rect">
            <a:avLst/>
          </a:prstGeom>
        </p:spPr>
      </p:pic>
    </p:spTree>
    <p:extLst>
      <p:ext uri="{BB962C8B-B14F-4D97-AF65-F5344CB8AC3E}">
        <p14:creationId xmlns:p14="http://schemas.microsoft.com/office/powerpoint/2010/main" val="2761546797"/>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32AA2E06-1638-ED04-B7D0-8EB826CA4762}"/>
            </a:ext>
          </a:extLst>
        </p:cNvPr>
        <p:cNvGrpSpPr/>
        <p:nvPr/>
      </p:nvGrpSpPr>
      <p:grpSpPr>
        <a:xfrm>
          <a:off x="0" y="0"/>
          <a:ext cx="0" cy="0"/>
          <a:chOff x="0" y="0"/>
          <a:chExt cx="0" cy="0"/>
        </a:xfrm>
      </p:grpSpPr>
      <p:sp>
        <p:nvSpPr>
          <p:cNvPr id="100" name="Google Shape;100;p14">
            <a:extLst>
              <a:ext uri="{FF2B5EF4-FFF2-40B4-BE49-F238E27FC236}">
                <a16:creationId xmlns:a16="http://schemas.microsoft.com/office/drawing/2014/main" id="{6269F112-88CB-07A6-E81A-784D70461013}"/>
              </a:ext>
            </a:extLst>
          </p:cNvPr>
          <p:cNvSpPr txBox="1"/>
          <p:nvPr/>
        </p:nvSpPr>
        <p:spPr>
          <a:xfrm>
            <a:off x="0" y="-4163"/>
            <a:ext cx="12192000" cy="1258343"/>
          </a:xfrm>
          <a:prstGeom prst="rect">
            <a:avLst/>
          </a:prstGeom>
          <a:noFill/>
          <a:ln>
            <a:noFill/>
          </a:ln>
          <a:effectLst>
            <a:outerShdw blurRad="25400">
              <a:srgbClr val="000000">
                <a:alpha val="45490"/>
              </a:srgbClr>
            </a:outerShdw>
          </a:effectLst>
        </p:spPr>
        <p:txBody>
          <a:bodyPr spcFirstLastPara="1" wrap="square" lIns="91425" tIns="45700" rIns="91425" bIns="45700" anchor="ctr" anchorCtr="0">
            <a:normAutofit/>
          </a:bodyPr>
          <a:lstStyle/>
          <a:p>
            <a:pPr lvl="0" algn="ctr">
              <a:buClr>
                <a:schemeClr val="dk1"/>
              </a:buClr>
              <a:buSzPts val="4800"/>
            </a:pPr>
            <a:r>
              <a:rPr lang="en-US" sz="4000" b="1" dirty="0">
                <a:solidFill>
                  <a:schemeClr val="dk1"/>
                </a:solidFill>
                <a:latin typeface="Times New Roman"/>
                <a:ea typeface="Times New Roman"/>
                <a:cs typeface="Times New Roman"/>
                <a:sym typeface="Times New Roman"/>
              </a:rPr>
              <a:t>OUTPUT/ RESULT</a:t>
            </a:r>
            <a:endParaRPr lang="en-US" sz="4000" b="1" i="0" u="none" strike="noStrike" cap="none" dirty="0">
              <a:solidFill>
                <a:schemeClr val="dk2"/>
              </a:solidFill>
              <a:latin typeface="Times New Roman"/>
              <a:ea typeface="Times New Roman"/>
              <a:cs typeface="Times New Roman"/>
              <a:sym typeface="Times New Roman"/>
            </a:endParaRPr>
          </a:p>
        </p:txBody>
      </p:sp>
      <p:sp>
        <p:nvSpPr>
          <p:cNvPr id="101" name="Google Shape;101;p14">
            <a:extLst>
              <a:ext uri="{FF2B5EF4-FFF2-40B4-BE49-F238E27FC236}">
                <a16:creationId xmlns:a16="http://schemas.microsoft.com/office/drawing/2014/main" id="{DA3E0767-1F6C-E49E-000E-0EA68BA27F36}"/>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11</a:t>
            </a:fld>
            <a:endParaRPr/>
          </a:p>
        </p:txBody>
      </p:sp>
      <p:pic>
        <p:nvPicPr>
          <p:cNvPr id="5" name="Picture 4"/>
          <p:cNvPicPr>
            <a:picLocks noChangeAspect="1"/>
          </p:cNvPicPr>
          <p:nvPr/>
        </p:nvPicPr>
        <p:blipFill>
          <a:blip r:embed="rId3"/>
          <a:stretch>
            <a:fillRect/>
          </a:stretch>
        </p:blipFill>
        <p:spPr>
          <a:xfrm>
            <a:off x="1093076" y="1254181"/>
            <a:ext cx="10047889" cy="4747226"/>
          </a:xfrm>
          <a:prstGeom prst="rect">
            <a:avLst/>
          </a:prstGeom>
        </p:spPr>
      </p:pic>
    </p:spTree>
    <p:extLst>
      <p:ext uri="{BB962C8B-B14F-4D97-AF65-F5344CB8AC3E}">
        <p14:creationId xmlns:p14="http://schemas.microsoft.com/office/powerpoint/2010/main" val="936820326"/>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1D4C7-9E5D-2639-B683-F3CFEA5E8024}"/>
              </a:ext>
            </a:extLst>
          </p:cNvPr>
          <p:cNvSpPr>
            <a:spLocks noGrp="1"/>
          </p:cNvSpPr>
          <p:nvPr>
            <p:ph type="title"/>
          </p:nvPr>
        </p:nvSpPr>
        <p:spPr>
          <a:xfrm>
            <a:off x="3478713" y="330870"/>
            <a:ext cx="10515600" cy="661741"/>
          </a:xfrm>
        </p:spPr>
        <p:txBody>
          <a:bodyPr>
            <a:normAutofit fontScale="90000"/>
          </a:bodyPr>
          <a:lstStyle/>
          <a:p>
            <a:r>
              <a:rPr lang="en-IN" b="1" dirty="0">
                <a:latin typeface="Times New Roman" panose="02020603050405020304" pitchFamily="18" charset="0"/>
                <a:cs typeface="Times New Roman" panose="02020603050405020304" pitchFamily="18" charset="0"/>
              </a:rPr>
              <a:t>OUTPUT/ RESULT</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38644AD7-E8E9-4201-EC25-E2B80CE3A45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pic>
        <p:nvPicPr>
          <p:cNvPr id="4" name="Picture 3">
            <a:extLst>
              <a:ext uri="{FF2B5EF4-FFF2-40B4-BE49-F238E27FC236}">
                <a16:creationId xmlns:a16="http://schemas.microsoft.com/office/drawing/2014/main" id="{01728D74-3CE6-AA73-BB0A-D8E793420170}"/>
              </a:ext>
            </a:extLst>
          </p:cNvPr>
          <p:cNvPicPr>
            <a:picLocks noChangeAspect="1"/>
          </p:cNvPicPr>
          <p:nvPr/>
        </p:nvPicPr>
        <p:blipFill>
          <a:blip r:embed="rId2"/>
          <a:stretch>
            <a:fillRect/>
          </a:stretch>
        </p:blipFill>
        <p:spPr>
          <a:xfrm>
            <a:off x="1072055" y="1156138"/>
            <a:ext cx="10058400" cy="4929352"/>
          </a:xfrm>
          <a:prstGeom prst="rect">
            <a:avLst/>
          </a:prstGeom>
        </p:spPr>
      </p:pic>
    </p:spTree>
    <p:extLst>
      <p:ext uri="{BB962C8B-B14F-4D97-AF65-F5344CB8AC3E}">
        <p14:creationId xmlns:p14="http://schemas.microsoft.com/office/powerpoint/2010/main" val="3785965401"/>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4398" y="0"/>
            <a:ext cx="10515600" cy="1325563"/>
          </a:xfrm>
        </p:spPr>
        <p:txBody>
          <a:bodyPr/>
          <a:lstStyle/>
          <a:p>
            <a:r>
              <a:rPr lang="en-IN" b="1" dirty="0">
                <a:latin typeface="Times New Roman" panose="02020603050405020304" pitchFamily="18" charset="0"/>
                <a:cs typeface="Times New Roman" panose="02020603050405020304" pitchFamily="18" charset="0"/>
              </a:rPr>
              <a:t>OUTPUT/ RESULT</a:t>
            </a:r>
            <a:endParaRPr lang="en-IN"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4" name="Picture 3"/>
          <p:cNvPicPr>
            <a:picLocks noChangeAspect="1"/>
          </p:cNvPicPr>
          <p:nvPr/>
        </p:nvPicPr>
        <p:blipFill>
          <a:blip r:embed="rId2"/>
          <a:stretch>
            <a:fillRect/>
          </a:stretch>
        </p:blipFill>
        <p:spPr>
          <a:xfrm>
            <a:off x="1093076" y="1325563"/>
            <a:ext cx="10026869" cy="4770437"/>
          </a:xfrm>
          <a:prstGeom prst="rect">
            <a:avLst/>
          </a:prstGeom>
        </p:spPr>
      </p:pic>
    </p:spTree>
    <p:extLst>
      <p:ext uri="{BB962C8B-B14F-4D97-AF65-F5344CB8AC3E}">
        <p14:creationId xmlns:p14="http://schemas.microsoft.com/office/powerpoint/2010/main" val="2446415979"/>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2A420-C949-EB01-3F2C-97393EFD5F57}"/>
              </a:ext>
            </a:extLst>
          </p:cNvPr>
          <p:cNvSpPr>
            <a:spLocks noGrp="1"/>
          </p:cNvSpPr>
          <p:nvPr>
            <p:ph type="title"/>
          </p:nvPr>
        </p:nvSpPr>
        <p:spPr>
          <a:xfrm>
            <a:off x="3588735" y="136525"/>
            <a:ext cx="10515600" cy="1325563"/>
          </a:xfrm>
        </p:spPr>
        <p:txBody>
          <a:bodyPr/>
          <a:lstStyle/>
          <a:p>
            <a:r>
              <a:rPr lang="en-IN" b="1" dirty="0">
                <a:latin typeface="Times New Roman" panose="02020603050405020304" pitchFamily="18" charset="0"/>
                <a:cs typeface="Times New Roman" panose="02020603050405020304" pitchFamily="18" charset="0"/>
              </a:rPr>
              <a:t>OUTPUT/ RESULT</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5AD8FB6E-08E9-08E8-9C24-FC8A9FBA59F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pic>
        <p:nvPicPr>
          <p:cNvPr id="5" name="Picture 4"/>
          <p:cNvPicPr>
            <a:picLocks noChangeAspect="1"/>
          </p:cNvPicPr>
          <p:nvPr/>
        </p:nvPicPr>
        <p:blipFill>
          <a:blip r:embed="rId2"/>
          <a:stretch>
            <a:fillRect/>
          </a:stretch>
        </p:blipFill>
        <p:spPr>
          <a:xfrm>
            <a:off x="1082567" y="1462087"/>
            <a:ext cx="10068909" cy="4665443"/>
          </a:xfrm>
          <a:prstGeom prst="rect">
            <a:avLst/>
          </a:prstGeom>
        </p:spPr>
      </p:pic>
    </p:spTree>
    <p:extLst>
      <p:ext uri="{BB962C8B-B14F-4D97-AF65-F5344CB8AC3E}">
        <p14:creationId xmlns:p14="http://schemas.microsoft.com/office/powerpoint/2010/main" val="1722878458"/>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5A655-8AD5-362F-9A4C-4D2200A065E5}"/>
              </a:ext>
            </a:extLst>
          </p:cNvPr>
          <p:cNvSpPr>
            <a:spLocks noGrp="1"/>
          </p:cNvSpPr>
          <p:nvPr>
            <p:ph type="title"/>
          </p:nvPr>
        </p:nvSpPr>
        <p:spPr>
          <a:xfrm>
            <a:off x="3503162" y="0"/>
            <a:ext cx="10515600" cy="1325563"/>
          </a:xfrm>
        </p:spPr>
        <p:txBody>
          <a:bodyPr/>
          <a:lstStyle/>
          <a:p>
            <a:r>
              <a:rPr lang="en-IN" b="1" dirty="0">
                <a:latin typeface="Times New Roman" panose="02020603050405020304" pitchFamily="18" charset="0"/>
                <a:cs typeface="Times New Roman" panose="02020603050405020304" pitchFamily="18" charset="0"/>
              </a:rPr>
              <a:t>OUTPUT/ RESULT</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A0F75210-3A62-125F-BA3A-F8934E90955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pic>
        <p:nvPicPr>
          <p:cNvPr id="5" name="Picture 4"/>
          <p:cNvPicPr>
            <a:picLocks noChangeAspect="1"/>
          </p:cNvPicPr>
          <p:nvPr/>
        </p:nvPicPr>
        <p:blipFill>
          <a:blip r:embed="rId2"/>
          <a:stretch>
            <a:fillRect/>
          </a:stretch>
        </p:blipFill>
        <p:spPr>
          <a:xfrm>
            <a:off x="1082565" y="1325563"/>
            <a:ext cx="10047889" cy="4612782"/>
          </a:xfrm>
          <a:prstGeom prst="rect">
            <a:avLst/>
          </a:prstGeom>
        </p:spPr>
      </p:pic>
    </p:spTree>
    <p:extLst>
      <p:ext uri="{BB962C8B-B14F-4D97-AF65-F5344CB8AC3E}">
        <p14:creationId xmlns:p14="http://schemas.microsoft.com/office/powerpoint/2010/main" val="1587537647"/>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FEBD71AE-257D-7AF1-5F0D-27F9B7AB0943}"/>
            </a:ext>
          </a:extLst>
        </p:cNvPr>
        <p:cNvGrpSpPr/>
        <p:nvPr/>
      </p:nvGrpSpPr>
      <p:grpSpPr>
        <a:xfrm>
          <a:off x="0" y="0"/>
          <a:ext cx="0" cy="0"/>
          <a:chOff x="0" y="0"/>
          <a:chExt cx="0" cy="0"/>
        </a:xfrm>
      </p:grpSpPr>
      <p:sp>
        <p:nvSpPr>
          <p:cNvPr id="100" name="Google Shape;100;p14">
            <a:extLst>
              <a:ext uri="{FF2B5EF4-FFF2-40B4-BE49-F238E27FC236}">
                <a16:creationId xmlns:a16="http://schemas.microsoft.com/office/drawing/2014/main" id="{7B36759A-7AA2-E64D-EDAA-8BD8AC758DB8}"/>
              </a:ext>
            </a:extLst>
          </p:cNvPr>
          <p:cNvSpPr txBox="1"/>
          <p:nvPr/>
        </p:nvSpPr>
        <p:spPr>
          <a:xfrm>
            <a:off x="0" y="-4163"/>
            <a:ext cx="12192000" cy="1258343"/>
          </a:xfrm>
          <a:prstGeom prst="rect">
            <a:avLst/>
          </a:prstGeom>
          <a:noFill/>
          <a:ln>
            <a:noFill/>
          </a:ln>
          <a:effectLst>
            <a:outerShdw blurRad="25400">
              <a:srgbClr val="000000">
                <a:alpha val="45490"/>
              </a:srgbClr>
            </a:outerShdw>
          </a:effectLst>
        </p:spPr>
        <p:txBody>
          <a:bodyPr spcFirstLastPara="1" wrap="square" lIns="91425" tIns="45700" rIns="91425" bIns="45700" anchor="ctr" anchorCtr="0">
            <a:normAutofit/>
          </a:bodyPr>
          <a:lstStyle/>
          <a:p>
            <a:pPr lvl="0" algn="ctr">
              <a:buClr>
                <a:schemeClr val="dk1"/>
              </a:buClr>
              <a:buSzPts val="4800"/>
            </a:pPr>
            <a:r>
              <a:rPr lang="en-US" sz="4000" b="1" dirty="0">
                <a:solidFill>
                  <a:schemeClr val="dk1"/>
                </a:solidFill>
                <a:latin typeface="Times New Roman"/>
                <a:ea typeface="Times New Roman"/>
                <a:cs typeface="Times New Roman"/>
                <a:sym typeface="Times New Roman"/>
              </a:rPr>
              <a:t>CONCLUSION &amp; FUTURE ENHANCEMENTS</a:t>
            </a:r>
            <a:endParaRPr lang="en-US" sz="4000" b="1" i="0" u="none" strike="noStrike" cap="none" dirty="0">
              <a:solidFill>
                <a:schemeClr val="dk2"/>
              </a:solidFill>
              <a:latin typeface="Times New Roman"/>
              <a:ea typeface="Times New Roman"/>
              <a:cs typeface="Times New Roman"/>
              <a:sym typeface="Times New Roman"/>
            </a:endParaRPr>
          </a:p>
        </p:txBody>
      </p:sp>
      <p:sp>
        <p:nvSpPr>
          <p:cNvPr id="101" name="Google Shape;101;p14">
            <a:extLst>
              <a:ext uri="{FF2B5EF4-FFF2-40B4-BE49-F238E27FC236}">
                <a16:creationId xmlns:a16="http://schemas.microsoft.com/office/drawing/2014/main" id="{4EDDD38D-DD9A-EF0F-C6F0-1A2D7392D1DF}"/>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16</a:t>
            </a:fld>
            <a:endParaRPr/>
          </a:p>
        </p:txBody>
      </p:sp>
      <p:sp>
        <p:nvSpPr>
          <p:cNvPr id="3" name="TextBox 2">
            <a:extLst>
              <a:ext uri="{FF2B5EF4-FFF2-40B4-BE49-F238E27FC236}">
                <a16:creationId xmlns:a16="http://schemas.microsoft.com/office/drawing/2014/main" id="{A41D2340-682F-3DEE-3B01-2A7CD30D0282}"/>
              </a:ext>
            </a:extLst>
          </p:cNvPr>
          <p:cNvSpPr txBox="1"/>
          <p:nvPr/>
        </p:nvSpPr>
        <p:spPr>
          <a:xfrm>
            <a:off x="1930400" y="4429074"/>
            <a:ext cx="8331200" cy="523220"/>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5A91E5F-5E73-C9CE-CDF3-77E938E09F93}"/>
              </a:ext>
            </a:extLst>
          </p:cNvPr>
          <p:cNvSpPr txBox="1"/>
          <p:nvPr/>
        </p:nvSpPr>
        <p:spPr>
          <a:xfrm>
            <a:off x="1072054" y="1254180"/>
            <a:ext cx="10089932" cy="5115311"/>
          </a:xfrm>
          <a:prstGeom prst="rect">
            <a:avLst/>
          </a:prstGeom>
          <a:noFill/>
        </p:spPr>
        <p:txBody>
          <a:bodyPr wrap="square">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The project successfully provides a smart solution for locating medicines in real time. It reduces the effort and time required to find essential medicines and improves accessibility during emergencies. The system is efficient, user-friendly, and reliable for modern healthcare needs.</a:t>
            </a: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Future Enhancements </a:t>
            </a:r>
          </a:p>
          <a:p>
            <a:pPr marL="34290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Integration with real pharmacy APIs for live stock updates
Mobile application development
AI-based medicine recommendation system
Online doctor consultation integration
Advanced analytics for demand prediction
Multi-city and nationwide expansion</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0242228"/>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3"/>
          <p:cNvSpPr txBox="1">
            <a:spLocks noGrp="1"/>
          </p:cNvSpPr>
          <p:nvPr>
            <p:ph type="title"/>
          </p:nvPr>
        </p:nvSpPr>
        <p:spPr>
          <a:xfrm>
            <a:off x="2274211" y="2943775"/>
            <a:ext cx="7643578" cy="97045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12000"/>
              <a:buFont typeface="Arial"/>
              <a:buNone/>
            </a:pPr>
            <a:r>
              <a:rPr lang="en-US" sz="6000" b="1" dirty="0">
                <a:latin typeface="Times New Roman"/>
                <a:ea typeface="Times New Roman"/>
                <a:cs typeface="Times New Roman"/>
                <a:sym typeface="Times New Roman"/>
              </a:rPr>
              <a:t>Thank You</a:t>
            </a:r>
            <a:endParaRPr sz="6000" b="1" dirty="0">
              <a:latin typeface="Times New Roman"/>
              <a:ea typeface="Times New Roman"/>
              <a:cs typeface="Times New Roman"/>
              <a:sym typeface="Times New Roman"/>
            </a:endParaRPr>
          </a:p>
        </p:txBody>
      </p:sp>
      <p:sp>
        <p:nvSpPr>
          <p:cNvPr id="164" name="Google Shape;164;p2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785</TotalTime>
  <Words>676</Words>
  <Application>Microsoft Office PowerPoint</Application>
  <PresentationFormat>Widescreen</PresentationFormat>
  <Paragraphs>74</Paragraphs>
  <Slides>17</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Noto Sans Symbols</vt:lpstr>
      <vt:lpstr>Times New Roman</vt:lpstr>
      <vt:lpstr>Wingdings</vt:lpstr>
      <vt:lpstr>Office Theme</vt:lpstr>
      <vt:lpstr>PowerPoint Presentation</vt:lpstr>
      <vt:lpstr>PowerPoint Presentation</vt:lpstr>
      <vt:lpstr>PROBLEM STATEMENT</vt:lpstr>
      <vt:lpstr>RESEARCH OBJECTIVE </vt:lpstr>
      <vt:lpstr>EXISTING SYSTEM </vt:lpstr>
      <vt:lpstr>PROPOSED SYSTEM</vt:lpstr>
      <vt:lpstr>SYSTEM ARCHITECTURE</vt:lpstr>
      <vt:lpstr>WORKING PRINCIPLE</vt:lpstr>
      <vt:lpstr>PowerPoint Presentation</vt:lpstr>
      <vt:lpstr>PowerPoint Presentation</vt:lpstr>
      <vt:lpstr>PowerPoint Presentation</vt:lpstr>
      <vt:lpstr>OUTPUT/ RESULT</vt:lpstr>
      <vt:lpstr>OUTPUT/ RESULT</vt:lpstr>
      <vt:lpstr>OUTPUT/ RESULT</vt:lpstr>
      <vt:lpstr>OUTPUT/ RESULT</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MY</dc:creator>
  <cp:lastModifiedBy>VIMAL AANANTH BR</cp:lastModifiedBy>
  <cp:revision>26</cp:revision>
  <dcterms:modified xsi:type="dcterms:W3CDTF">2026-05-05T06:10:35Z</dcterms:modified>
</cp:coreProperties>
</file>